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2.svg" ContentType="image/svg+xml"/>
  <Override PartName="/ppt/media/image-5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notesMasterIdLst>
    <p:notesMasterId r:id="rId12"/>
  </p:notesMasterIdLst>
  <p:sldSz cx="12191695" cy="6858000"/>
  <p:notesSz cx="6858000" cy="12191695"/>
  <p:embeddedFontLst>
    <p:embeddedFont>
      <p:font typeface="Instrument Sans Medium"/>
      <p:regular r:id="rId201314"/>
    </p:embeddedFont>
    <p:embeddedFont>
      <p:font typeface="Instrument Sans SemiBold"/>
      <p:regular r:id="rId201315"/>
    </p:embeddedFont>
    <p:embeddedFont>
      <p:font typeface="Instrument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426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Medical Question Answering using Llama 3 + RAG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6682" y="198169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Retrieval-Augmented Generation System for Grounded, Trustworthy Clinical Decision Support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47362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1E3063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2415" y="2719983"/>
            <a:ext cx="5470785" cy="3003649"/>
          </a:xfrm>
          <a:prstGeom prst="roundRect">
            <a:avLst>
              <a:gd name="adj" fmla="val 7929"/>
            </a:avLst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707710" y="288528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3309045"/>
            <a:ext cx="5140196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 Shanmukh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24BCA7196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Kamakshi Talekar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24BCE7263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V Abhiram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24BCA7402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 Krishna Kaushal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24BCE7493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88528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309045"/>
            <a:ext cx="5232666" cy="226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project explores the integration of Meta's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Llama 3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large language model with a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Retrieval-Augmented Generation (RAG)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pipeline to enable safe, accurate, and source-grounded medical question answering.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Evaluated on the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MedQA (USMLE)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benchmark using a corpus of 18 medical textbooks, this system directly addresses the hallucination and knowledge-staleness problems endemic to standalone LLMs in clinical settings.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3748"/>
            <a:ext cx="1003573" cy="247352"/>
          </a:xfrm>
          <a:prstGeom prst="roundRect">
            <a:avLst>
              <a:gd name="adj" fmla="val 47390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59104" y="512564"/>
            <a:ext cx="1417900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75196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Medical QA Demands a Better Approach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75" y="1524198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Large language models have demonstrated remarkable fluency — but fluency without factual grounding is dangerous in clinical contexts. Four interconnected problems drive this project.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21409"/>
            <a:ext cx="5354206" cy="20063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9437" y="2403177"/>
            <a:ext cx="49144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🚨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LLMs Hallucinate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9437" y="2753618"/>
            <a:ext cx="4914479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Models like Llama 3 are powerful but routinely generate plausible-sounding yet factually false medical information. In clinical contexts, this is not a minor inconvenience — it is a patient safety risk that makes unaugmented LLMs unsuitable for medical use.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5915" y="2221409"/>
            <a:ext cx="5354305" cy="20063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33877" y="2403177"/>
            <a:ext cx="49145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Fine-Tuned Models Lack Grounding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33877" y="2753618"/>
            <a:ext cx="4914579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ChatDoctor and similar systems improve conversational quality by fine-tuning on patient-doctor dialogues, but they rely on </a:t>
            </a:r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static, memorized knowledge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without real-time verification. Knowledge becomes stale, and the model cannot cite where its answer came from.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87949"/>
            <a:ext cx="5354206" cy="20063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9437" y="4569718"/>
            <a:ext cx="49144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RAG Solves the Grounding Problem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9437" y="4920159"/>
            <a:ext cx="4914479" cy="103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Retrieval-Augmented Generation retrieves verified medical documents </a:t>
            </a:r>
            <a:pPr algn="l" indent="0" marL="0">
              <a:lnSpc>
                <a:spcPct val="132000"/>
              </a:lnSpc>
              <a:buNone/>
            </a:pPr>
            <a:r>
              <a:rPr lang="en-US" sz="12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generation, ensuring answers are conditioned on authoritative, up-to-date sources. This fundamentally shifts the system from memorization to evidence-based reasoning.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5915" y="4387949"/>
            <a:ext cx="5354305" cy="20063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33877" y="4569718"/>
            <a:ext cx="49145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Career &amp; Research Relevance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433877" y="4920159"/>
            <a:ext cx="4914579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Medical AI and health-tech are among the fastest-growing fields in applied NLP. RAG-based clinical systems represent the frontier of safe, trustworthy decision support — making this project directly relevant to both academic and industry career trajectories.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6413"/>
            <a:ext cx="663261" cy="133350"/>
          </a:xfrm>
          <a:prstGeom prst="roundRect">
            <a:avLst>
              <a:gd name="adj" fmla="val 47441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14159" y="532705"/>
            <a:ext cx="1167478" cy="8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CONCEPT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58416"/>
            <a:ext cx="10868745" cy="274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Llama 3 + RAG Pipeline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61475" y="1002903"/>
            <a:ext cx="11478330" cy="107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Llama 3 generates natural language answers to medical questions, while a RAG pipeline retrieves relevant medical text from a vector database </a:t>
            </a:r>
            <a:pPr algn="l" indent="0" marL="0">
              <a:lnSpc>
                <a:spcPct val="102000"/>
              </a:lnSpc>
              <a:buNone/>
            </a:pPr>
            <a:r>
              <a:rPr lang="en-US" sz="6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</a:t>
            </a:r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generation. This grounds responses in verifiable sources instead of relying purely on memorized parametric knowledge.</a:t>
            </a:r>
            <a:endParaRPr lang="en-US" sz="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163042"/>
            <a:ext cx="10779153" cy="46482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1583" y="4929850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Llama 3 Generator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31583" y="3853844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Relevant Documents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431583" y="2788706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Retriever / Vector DB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431583" y="1712700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 Question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98175" y="5863828"/>
            <a:ext cx="5453819" cy="487759"/>
          </a:xfrm>
          <a:prstGeom prst="roundRect">
            <a:avLst>
              <a:gd name="adj" fmla="val 25940"/>
            </a:avLst>
          </a:prstGeom>
          <a:solidFill>
            <a:srgbClr val="003366"/>
          </a:solidFill>
          <a:ln/>
        </p:spPr>
      </p:sp>
      <p:sp>
        <p:nvSpPr>
          <p:cNvPr id="12" name="Text 9"/>
          <p:cNvSpPr/>
          <p:nvPr/>
        </p:nvSpPr>
        <p:spPr>
          <a:xfrm>
            <a:off x="685981" y="5910461"/>
            <a:ext cx="5278206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Design Principle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85981" y="6094313"/>
            <a:ext cx="5278206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answer generated by the system is </a:t>
            </a:r>
            <a:pPr algn="l" indent="0" marL="0">
              <a:lnSpc>
                <a:spcPct val="102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conditioned on retrieved context</a:t>
            </a:r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not on the model's internal weights alone. This architectural choice is the primary mechanism for hallucination reduction.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209351" y="5910461"/>
            <a:ext cx="5327219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This Architecture?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209351" y="6094313"/>
            <a:ext cx="5327219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Unlike fine-tuned models that bake knowledge into parameters at training time, a RAG system can be </a:t>
            </a:r>
            <a:pPr algn="l" indent="0" marL="0">
              <a:lnSpc>
                <a:spcPct val="102000"/>
              </a:lnSpc>
              <a:buNone/>
            </a:pPr>
            <a:r>
              <a:rPr lang="en-US" sz="6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updated by swapping the retrieval corpus</a:t>
            </a:r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no retraining required. This makes it inherently more maintainable and adaptable to new medical evidence.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6052"/>
            <a:ext cx="762775" cy="243384"/>
          </a:xfrm>
          <a:prstGeom prst="roundRect">
            <a:avLst>
              <a:gd name="adj" fmla="val 47398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57516" y="524073"/>
            <a:ext cx="1180277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81447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Benchmark &amp; Knowledge Base Selection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514872"/>
            <a:ext cx="10868745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choice of datasets directly determines the credibility of evaluation and the quality of retrieved context. Both selections are grounded in established literature conventions.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6086" y="2194024"/>
            <a:ext cx="5469694" cy="3133923"/>
          </a:xfrm>
          <a:prstGeom prst="roundRect">
            <a:avLst>
              <a:gd name="adj" fmla="val 7362"/>
            </a:avLst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706221" y="2349202"/>
            <a:ext cx="514942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QA Benchmark: MedQA (USMLE)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6221" y="2754709"/>
            <a:ext cx="5149424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USMLE-style multiple-choice medical questions representing the standard benchmark for evaluating medical LLMs. Questions require clinical reasoning across a broad range of medical topics, mirroring real licensing exam difficulty.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6221" y="3903563"/>
            <a:ext cx="5149424" cy="1117798"/>
          </a:xfrm>
          <a:prstGeom prst="rect">
            <a:avLst/>
          </a:prstGeom>
          <a:noFill/>
          <a:ln/>
        </p:spPr>
        <p:txBody>
          <a:bodyPr wrap="square" lIns="0" tIns="64089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Multi-choice format aligned with real clinical exam standards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Widely used — enables direct, fair comparison with published results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 facto standard for medical QA evaluation in the NLP literature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97653" y="2349202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RAG Corpus: Medical Textbooks + PubMed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297653" y="2754709"/>
            <a:ext cx="5238917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retrieval knowledge base is constructed from MedQA's accompanying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18 medical textbooks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with optional extension via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PubMed abstracts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broader coverage of recent biomedical research.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97653" y="3903563"/>
            <a:ext cx="5238917" cy="1370112"/>
          </a:xfrm>
          <a:prstGeom prst="rect">
            <a:avLst/>
          </a:prstGeom>
          <a:noFill/>
          <a:ln/>
        </p:spPr>
        <p:txBody>
          <a:bodyPr wrap="square" lIns="0" tIns="64089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18 curated textbooks provide structured, authoritative clinical knowledge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PubMed abstracts extend coverage to recent research findings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Corpus directly matches benchmark domain — retrieval is contextually relevant by design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1475" y="5502473"/>
            <a:ext cx="10868745" cy="879376"/>
          </a:xfrm>
          <a:prstGeom prst="roundRect">
            <a:avLst>
              <a:gd name="adj" fmla="val 16398"/>
            </a:avLst>
          </a:prstGeom>
          <a:solidFill>
            <a:srgbClr val="CEE6FD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610" y="5722541"/>
            <a:ext cx="200218" cy="16013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1963" y="5697637"/>
            <a:ext cx="10188122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Why these datasets: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Both are widely benchmarked in the literature, enabling fair comparison with existing systems. MedQA is the de facto standard, ensuring our results are interpretable and reproducible within the community.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9404"/>
            <a:ext cx="1615142" cy="172641"/>
          </a:xfrm>
          <a:prstGeom prst="roundRect">
            <a:avLst>
              <a:gd name="adj" fmla="val 47421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636" y="503436"/>
            <a:ext cx="2088403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LITERATURE SURVEY · PART 1 OF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73298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RAG Architectures for Medical QA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1145778"/>
            <a:ext cx="11478330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following five works represent key developments in retrieval-augmented and hybrid approaches to medical NLP, spanning evaluation frameworks, filtering strategies, and iterative retrieval.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87177"/>
            <a:ext cx="10868745" cy="937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65" y="1513582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MedRGB — Ngo Trung et al., 2024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65" y="1738114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Evaluation framework testing RAG systems under realistic failure scenarios — noisy documents, conflicting evidence, and multi-hop reasoning.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Tests robustness beyond standard retrieve-then-answer pipelines.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Framework-focused only; proposes no new model architecture.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03078"/>
            <a:ext cx="10868745" cy="937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65" y="2529483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RAG² / Rationale-Guided RAG — Sohn et al., NAACL 2025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07065" y="2754015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Filtering model selects informative snippets; LLM-generated rationales serve as refined retrieval queries, reducing noise in retrieved context.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Directly tackles irrelevant and noisy retrieval — a major failure mode in standard RAG.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Adds pipeline complexity and inference overhead.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18979"/>
            <a:ext cx="10868745" cy="9378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65" y="35453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Iterative Follow-up Questions — Xiong et al., PSB 2025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07065" y="37699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When initial retrieval is insufficient, the system generates follow-up queries to iteratively gather additional relevant context.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Handles complex, multi-step clinical questions that require chained reasoning.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Multiple retrieval rounds increase system latency significantly.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34880"/>
            <a:ext cx="10868745" cy="9378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65" y="45612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MKRAG — Shi et al., AMIA 2024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207065" y="47858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Retrieval-augmented generation applied to Vicuna-7B without fine-tuning; improved accuracy from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44.46% → 48.54%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 medical benchmarks.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Demonstrates RAG benefit without any fine-tuning overhead.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Older, smaller model; modest gain of ~4 percentage points.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450780"/>
            <a:ext cx="10868745" cy="9378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07065" y="5577185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QLoRA + RAG — 2025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207065" y="5801717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Combines quantized low-rank adaptation (QLoRA) fine-tuning with a RAG retrieval layer for resource-constrained deployment.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Resource-efficient — viable for smaller institutions without high-end GPU clusters.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Trade-off between quantization efficiency and full model capability.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9404"/>
            <a:ext cx="1629925" cy="172641"/>
          </a:xfrm>
          <a:prstGeom prst="roundRect">
            <a:avLst>
              <a:gd name="adj" fmla="val 47421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636" y="503436"/>
            <a:ext cx="2103186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LITERATURE SURVEY · PART 2 OF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73298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Fine-Tuning Approaches for Medical LLMs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1145778"/>
            <a:ext cx="11478330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Five works examining how fine-tuning strategies — from chain-of-thought instruction tuning to domain-specific dialogue training — shape medical LLM performance, along with their key limitations.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87177"/>
            <a:ext cx="10868745" cy="937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65" y="1513582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Fine-Tuning LLaMA-3.2-3B for Medical CoT — 2025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65" y="1738114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Chain-of-thought fine-tuning applied to the smaller 3B parameter variant of the LLaMA-3.2 family, optimizing reasoning traces for medical questions.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Substantially lower compute cost relative to 8B+ models.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Smaller model trades off reasoning depth on complex multi-step clinical questions.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03078"/>
            <a:ext cx="10868745" cy="937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65" y="2529483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ChatDoctor — Li et al., Cureus 2023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07065" y="2754015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LLaMA fine-tuned on 100k patient-doctor dialogues with a secondary self-directed retrieval module drawing from Wikipedia and medical databases.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Outperforms ChatGPT on precision, recall, and F1 for medical dialogue tasks.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Retrieval is a secondary add-on, not core design; core knowledge remains static and memorized.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18979"/>
            <a:ext cx="10868745" cy="9378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65" y="35453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Fine-Tuning Llama 3 for Physician Letters — Frontiers in AI, 2024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07065" y="37699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Local fine-tuning of Llama 3 for privacy-preserving clinical letter generation without cloud data transmission.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Strong privacy compliance — runs entirely on-premise.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Narrow task scope (letter generation only); not designed for general-purpose medical QA.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34880"/>
            <a:ext cx="10868745" cy="9378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65" y="45612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Instruction Tuning in Biomedical NLP — 2024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207065" y="47858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Ablation study systematically examining instruction tuning strategies across biomedical NLP tasks to identify which components drive performance gains.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Provides actionable insights into effective tuning approaches for the biomedical domain.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Analysis-focused; no deployable system is produced.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450780"/>
            <a:ext cx="10868745" cy="9378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07065" y="5577185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Medical Transcription in Low-Resource Languages — 2025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207065" y="5801717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LLaMA 3.1-8B fine-tuned on Finnish clinical dialogues, achieving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BERTScore 0.82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despite low BLEU scores — demonstrating semantic adequacy over surface-level match.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High semantic similarity on a language the model was not natively pre-trained on.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Extremely small dataset (7 samples); generalizability is severely limited.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9404"/>
            <a:ext cx="1632306" cy="172641"/>
          </a:xfrm>
          <a:prstGeom prst="roundRect">
            <a:avLst>
              <a:gd name="adj" fmla="val 47421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636" y="503436"/>
            <a:ext cx="2105568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LITERATURE SURVEY · PART 3 OF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73298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Benchmarks, Datasets &amp; RAG Evaluation Frameworks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1145778"/>
            <a:ext cx="11478330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Five works establishing the evaluation landscape for medical QA — from foundational datasets to systematic RAG component benchmarking — that directly inform our experimental design.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87177"/>
            <a:ext cx="10868745" cy="937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65" y="1513582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MedExQA — 2024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65" y="1738114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Benchmark requiring models to produce multiple explanation styles alongside answers, moving beyond single-token accuracy to explainability assessment.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Tests explainability — critical for clinical trust and regulatory acceptance.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Subjective explanation quality is difficult to evaluate automatically at scale.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03078"/>
            <a:ext cx="10868745" cy="937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65" y="2529483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PubMedQA — Jin et al., EMNLP-IJCNLP 2019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07065" y="2754015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Biomedical QA from PubMed abstracts: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1k expert-annotated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61.2k unlabeled, 211.3k synthetic instances. Requires reasoning over quantitative research findings.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First QA dataset demanding reasoning over quantitative biomedical data; pairs naturally with RAG retrieval of PubMed content.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Best model at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68.1%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vs.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78% human performance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; yes/no/maybe format is simplistic for complex clinical scenarios.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18979"/>
            <a:ext cx="10868745" cy="9378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65" y="35453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Benchmarking RAG for Medicine — Xiong et al., ACL Findings 2024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07065" y="37699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Systematic benchmark of RAG pipeline components — retrievers, corpora, and model sizes — to identify which configurations drive medical QA performance.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Directly relevant for pipeline design; provides evidence-based component selection guidance.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Benchmark-only study; no new architecture is proposed.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34880"/>
            <a:ext cx="10868745" cy="9378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65" y="45612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LLM Benchmarks in Medical Tasks — Survey, 2024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207065" y="47858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Comprehensive survey of medical LLM benchmarks — MedQA, MedMCQA, PubMedQA, and others — providing a unified reference for the evaluation landscape.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Single reference for benchmark comparison and selection across projects.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Literature review only; no original experiments conducted.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450780"/>
            <a:ext cx="10868745" cy="9378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07065" y="5577185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MedExpQA — ScienceDirect, 2024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207065" y="5801717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Multilingual medical QA benchmarking, evaluating LLM performance across non-English languages to expose performance disparities.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Highlights critical non-English performance gaps in medical AI — important for global health equity.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Multilingual scope is outside the focus of this project.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9404"/>
            <a:ext cx="1634985" cy="172641"/>
          </a:xfrm>
          <a:prstGeom prst="roundRect">
            <a:avLst>
              <a:gd name="adj" fmla="val 47421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636" y="503436"/>
            <a:ext cx="2108246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LITERATURE SURVEY · PART 4 OF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73298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Hallucination Detection &amp; Clinical Safety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1145778"/>
            <a:ext cx="11478330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Five works addressing the hallucination problem in medical LLMs — a research thread directly motivating this project's use of RAG as a structural intervention against factual drift.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87177"/>
            <a:ext cx="10868745" cy="937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65" y="1513582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MedHallBench — 2024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65" y="1738114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Purpose-built benchmark for measuring hallucination rates in medical LLMs across diverse clinical question types.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First benchmark specifically designed for medical hallucination measurement — fills a critical evaluation gap.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Detection-only framework; proposes no reduction or mitigation strategies.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03078"/>
            <a:ext cx="10868745" cy="937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65" y="2529483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MedHal — 2024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07065" y="2754015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Hallucination detection dataset constructed on top of PubMedQA, pairing correct answers with synthetically generated hallucinated alternatives.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Integrates seamlessly with PubMedQA-based experimental setups.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Synthetically generated hallucinations may not accurately reflect real-world LLM failure patterns.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18979"/>
            <a:ext cx="10868745" cy="9378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65" y="35453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Risk-Sensitive Hallucination Score (RSHS) — 2024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07065" y="37699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RSHS framework detecting high-risk language patterns — treatment directives, urgency cues, and over-confident clinical recommendations — using keyword heuristics.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Exposes dangerous "high-risk, low-grounding" failures that standard accuracy metrics miss entirely.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Keyword heuristics may miss nuanced risks; synthetic prompts limit real-world clinical applicability.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34880"/>
            <a:ext cx="10868745" cy="9378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65" y="45612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Rethinking RAG for Medicine — Large-Scale Expert Evaluation, 2025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207065" y="47858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Systematic expert clinical evaluation of RAG systems, replacing automated metrics with physician-level quality assessment.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Human evaluation is far more clinically credible than automated metrics like BLEU or accuracy.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Expert evaluation is expensive, slow, and difficult to scale for continuous benchmarking.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450780"/>
            <a:ext cx="10868745" cy="9378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07065" y="5577185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Hallucinations &amp; Key Information Extraction in Medical Texts — 2025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207065" y="5801717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Assesses hallucination rates across multiple open-source LLMs including base and fine-tuned variants, evaluating key clinical information extraction fidelity.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Directly comparable to the Llama 3 experimental setup used in this project.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Evaluates base and fine-tuned models only — does not assess RAG-augmented configurations.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4705"/>
            <a:ext cx="1822702" cy="219869"/>
          </a:xfrm>
          <a:prstGeom prst="roundRect">
            <a:avLst>
              <a:gd name="adj" fmla="val 47390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48289" y="538063"/>
            <a:ext cx="2258658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RESEARCH GAP &amp; OBJECTIVE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65175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What the Literature Leaves Unresolved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57298" y="1407319"/>
            <a:ext cx="5466221" cy="4955877"/>
          </a:xfrm>
          <a:prstGeom prst="roundRect">
            <a:avLst>
              <a:gd name="adj" fmla="val 4205"/>
            </a:avLst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701955" y="1533922"/>
            <a:ext cx="517690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Three Critical Gaps in Existing Work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1955" y="1902321"/>
            <a:ext cx="325529" cy="325537"/>
          </a:xfrm>
          <a:prstGeom prst="roundRect">
            <a:avLst>
              <a:gd name="adj" fmla="val 40010"/>
            </a:avLst>
          </a:prstGeom>
          <a:solidFill>
            <a:srgbClr val="CEE6FD"/>
          </a:solidFill>
          <a:ln/>
        </p:spPr>
      </p:sp>
      <p:sp>
        <p:nvSpPr>
          <p:cNvPr id="8" name="Text 6"/>
          <p:cNvSpPr/>
          <p:nvPr/>
        </p:nvSpPr>
        <p:spPr>
          <a:xfrm>
            <a:off x="756177" y="1929408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4084" y="1952030"/>
            <a:ext cx="472477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Static Knowledge in Fine-Tuned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4084" y="2304653"/>
            <a:ext cx="4724778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Fine-tuned medical LLMs (ChatDoctor, CoT-tuned variants) embed knowledge into model weights at training time. This knowledge becomes stale and cannot be updated without costly retraining — and remains prone to hallucination with no verification mechanism.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1955" y="3426222"/>
            <a:ext cx="325529" cy="325537"/>
          </a:xfrm>
          <a:prstGeom prst="roundRect">
            <a:avLst>
              <a:gd name="adj" fmla="val 40010"/>
            </a:avLst>
          </a:prstGeom>
          <a:solidFill>
            <a:srgbClr val="CEE6FD"/>
          </a:solidFill>
          <a:ln/>
        </p:spPr>
      </p:sp>
      <p:sp>
        <p:nvSpPr>
          <p:cNvPr id="12" name="Text 10"/>
          <p:cNvSpPr/>
          <p:nvPr/>
        </p:nvSpPr>
        <p:spPr>
          <a:xfrm>
            <a:off x="756177" y="3453309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4084" y="3475930"/>
            <a:ext cx="472477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Outdated Base Models in RAG Systems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4084" y="3828554"/>
            <a:ext cx="4724778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 existing RAG-medicine systems — including MKRAG (Vicuna-7B) and earlier GPT-3.5-based pipelines — use older or smaller LLMs as the generator. Newer, stronger open-source models like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Llama 3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have not been systematically evaluated in a full RAG configuration on MedQA.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1955" y="4950123"/>
            <a:ext cx="325529" cy="325537"/>
          </a:xfrm>
          <a:prstGeom prst="roundRect">
            <a:avLst>
              <a:gd name="adj" fmla="val 40010"/>
            </a:avLst>
          </a:prstGeom>
          <a:solidFill>
            <a:srgbClr val="CEE6FD"/>
          </a:solidFill>
          <a:ln/>
        </p:spPr>
      </p:sp>
      <p:sp>
        <p:nvSpPr>
          <p:cNvPr id="16" name="Text 14"/>
          <p:cNvSpPr/>
          <p:nvPr/>
        </p:nvSpPr>
        <p:spPr>
          <a:xfrm>
            <a:off x="756177" y="4977209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54084" y="4999831"/>
            <a:ext cx="472477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Missing Source Attribution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4084" y="5352455"/>
            <a:ext cx="4724778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Few systems combine factual grounding with explicit source attribution. For clinical trust and regulatory acceptability, transparency about </a:t>
            </a:r>
            <a:pPr algn="l"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where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 answer comes from is as important as whether the answer is correct.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78703" y="1533922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5689" y="2016224"/>
            <a:ext cx="5040881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 develop a Retrieval-Augmented Generation system using Llama 3 that improves factual accuracy and reduces hallucination in medical question answering by grounding responses in verified medical sources.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78703" y="1902321"/>
            <a:ext cx="19050" cy="879078"/>
          </a:xfrm>
          <a:prstGeom prst="roundRect">
            <a:avLst>
              <a:gd name="adj" fmla="val 49999"/>
            </a:avLst>
          </a:prstGeom>
          <a:solidFill>
            <a:srgbClr val="84C1FA"/>
          </a:solidFill>
          <a:ln/>
        </p:spPr>
      </p:sp>
      <p:sp>
        <p:nvSpPr>
          <p:cNvPr id="22" name="Text 20"/>
          <p:cNvSpPr/>
          <p:nvPr/>
        </p:nvSpPr>
        <p:spPr>
          <a:xfrm>
            <a:off x="6278703" y="2923778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How the Objective Addresses the Gaps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78703" y="3276402"/>
            <a:ext cx="5257867" cy="1391047"/>
          </a:xfrm>
          <a:prstGeom prst="rect">
            <a:avLst/>
          </a:prstGeom>
          <a:noFill/>
          <a:ln/>
        </p:spPr>
        <p:txBody>
          <a:bodyPr wrap="square" lIns="0" tIns="57887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Gap 1 → RAG grounding: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Every answer is conditioned on retrieved text — not static weights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Gap 2 → Llama 3 as generator: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Modern, strong open-source LLM applied in full RAG configuration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Gap 3 → Source attribution: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Evaluation explicitly measures retrieval relevance and grounding transparency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9245"/>
            <a:ext cx="1570296" cy="196255"/>
          </a:xfrm>
          <a:prstGeom prst="roundRect">
            <a:avLst>
              <a:gd name="adj" fmla="val 47404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38963" y="667941"/>
            <a:ext cx="202490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PROPOSED 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65783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How This Project Improves on Existing Work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61475" y="1421011"/>
            <a:ext cx="11478330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direct comparison of this project's design choices against the limitations identified across 20+ surveyed papers demonstrates clear, targeted improvements along three dimensions.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18568"/>
          <a:ext cx="9143771" cy="914400"/>
        </p:xfrm>
        <a:graphic>
          <a:graphicData uri="http://schemas.openxmlformats.org/drawingml/2006/table">
            <a:tbl>
              <a:tblPr/>
              <a:tblGrid>
                <a:gridCol w="3043249"/>
                <a:gridCol w="3912748"/>
                <a:gridCol w="3912748"/>
              </a:tblGrid>
              <a:tr h="3209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Existing Work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Limitation Identified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Our Project's Improvement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692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ChatDoctor / Fine-tuned LLaMA variants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No retrieval; static fine-tuned knowledge baked into weights; prone to hallucination with no verification mechanism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RAG grounds every answer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in retrieved medical text — knowledge is external, verifiable, and updateable without retraining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1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MKRAG, older RAG systems (Vicuna-7B, GPT-3.5-based pipelines)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Use smaller or older LLMs as the generator; capability ceiling limits answer quality on complex clinical questions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Uses Llama 3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— a newer, stronger open-source generator that brings state-of-the-art reasoning to the RAG pipeline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Most medical LLM evaluation papers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Evaluate only on accuracy metrics (% correct); no assessment of retrieval quality or source transparency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Also evaluates retrieval relevance and source grounding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— enabling transparency and clinical trust beyond raw accuracy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61475" y="3935809"/>
            <a:ext cx="5371271" cy="426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20+</a:t>
            </a:r>
            <a:endParaRPr lang="en-US" sz="3350" dirty="0"/>
          </a:p>
        </p:txBody>
      </p:sp>
      <p:sp>
        <p:nvSpPr>
          <p:cNvPr id="8" name="Text 5"/>
          <p:cNvSpPr/>
          <p:nvPr/>
        </p:nvSpPr>
        <p:spPr>
          <a:xfrm>
            <a:off x="661475" y="4502547"/>
            <a:ext cx="537127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Papers Surveyed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75" y="4764980"/>
            <a:ext cx="5371271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Across RAG, fine-tuning, hallucination, and benchmarking literature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58850" y="3935809"/>
            <a:ext cx="5371370" cy="426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3350" dirty="0"/>
          </a:p>
        </p:txBody>
      </p:sp>
      <p:sp>
        <p:nvSpPr>
          <p:cNvPr id="11" name="Text 8"/>
          <p:cNvSpPr/>
          <p:nvPr/>
        </p:nvSpPr>
        <p:spPr>
          <a:xfrm>
            <a:off x="6158850" y="4502547"/>
            <a:ext cx="5371370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Gaps Addressed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158850" y="4764980"/>
            <a:ext cx="5371370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Static knowledge, outdated generators, and missing source attribution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1475" y="5215434"/>
            <a:ext cx="5371271" cy="426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18</a:t>
            </a:r>
            <a:endParaRPr lang="en-US" sz="3350" dirty="0"/>
          </a:p>
        </p:txBody>
      </p:sp>
      <p:sp>
        <p:nvSpPr>
          <p:cNvPr id="14" name="Text 11"/>
          <p:cNvSpPr/>
          <p:nvPr/>
        </p:nvSpPr>
        <p:spPr>
          <a:xfrm>
            <a:off x="661475" y="5782171"/>
            <a:ext cx="537127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Textbooks in Corpus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1475" y="6044605"/>
            <a:ext cx="5371271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MedQA's curated medical textbooks form the RAG retrieval knowledge base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58850" y="5215434"/>
            <a:ext cx="5371370" cy="426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Llama 3</a:t>
            </a:r>
            <a:endParaRPr lang="en-US" sz="3350" dirty="0"/>
          </a:p>
        </p:txBody>
      </p:sp>
      <p:sp>
        <p:nvSpPr>
          <p:cNvPr id="17" name="Text 14"/>
          <p:cNvSpPr/>
          <p:nvPr/>
        </p:nvSpPr>
        <p:spPr>
          <a:xfrm>
            <a:off x="6158850" y="5782171"/>
            <a:ext cx="5371370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Generator Model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158850" y="6044605"/>
            <a:ext cx="5371370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Newest open-source LLM applied in a full RAG configuration on MedQA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EC5"/>
                </a:solidFill>
              </a:rPr>
              <a:t>All results are read-only from saved JSONL files — no re-running of LLM inference for this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2651760" cy="182880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47672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MedQA (USMLE) test split
1,273 total questions available
Sample of 300 questions used (seed=42, fixed)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600200"/>
            <a:ext cx="2651760" cy="182880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733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947672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Llama 3 8B (llama3:latest)
Running locally via Ollama
CPU-only, temperature=0.8 (default)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600200"/>
            <a:ext cx="2651760" cy="182880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733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Retriever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47672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all-MiniLM-L6-v2 embeddings (384-dim)
FAISS IndexFlatIP, 36,723 chunks
18 medical textbooks, 300–500 words/chunk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600200"/>
            <a:ext cx="2651760" cy="182880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6733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947672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Baseline: same 300 questions, no retrieval
RAG v1: original prompt (abstains if unsure)
RAG v2: forced-choice prompt, tuned on 100-Q val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A261"/>
                </a:solidFill>
              </a:rPr>
              <a:t>Validation split (100 questions, seed=42 from dev set) was used exclusively for prompt tuning before the single, final test run — preventing any leakage from the 300-question test 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Configuration 1 — RAG v1 vs. Baseline (No Retrieval)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EC5"/>
                </a:solidFill>
              </a:rPr>
              <a:t>Original prompt included a hedging clause ('say so rather than guessing') causing 20% abstention.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45920"/>
            <a:ext cx="2103120" cy="137160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0BEC5"/>
                </a:solidFill>
              </a:rPr>
              <a:t>RAG v1
Accuracy</a:t>
            </a:r>
          </a:p>
          <a:p>
            <a:pPr algn="ctr"/>
            <a:r>
              <a:rPr sz="2600" b="1">
                <a:solidFill>
                  <a:srgbClr val="FFFFFF"/>
                </a:solidFill>
              </a:rPr>
              <a:t>42.67%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645920"/>
            <a:ext cx="2103120" cy="137160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0BEC5"/>
                </a:solidFill>
              </a:rPr>
              <a:t>RAG v1
Abstention</a:t>
            </a:r>
          </a:p>
          <a:p>
            <a:pPr algn="ctr"/>
            <a:r>
              <a:rPr sz="2600" b="1">
                <a:solidFill>
                  <a:srgbClr val="E63B3B"/>
                </a:solidFill>
              </a:rPr>
              <a:t>20.33%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645920"/>
            <a:ext cx="2103120" cy="137160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0BEC5"/>
                </a:solidFill>
              </a:rPr>
              <a:t>Baseline
Accuracy</a:t>
            </a:r>
          </a:p>
          <a:p>
            <a:pPr algn="ctr"/>
            <a:r>
              <a:rPr sz="2600" b="1">
                <a:solidFill>
                  <a:srgbClr val="FFFFFF"/>
                </a:solidFill>
              </a:rPr>
              <a:t>48.67%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645920"/>
            <a:ext cx="2103120" cy="137160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0BEC5"/>
                </a:solidFill>
              </a:rPr>
              <a:t>Baseline
Abstention</a:t>
            </a:r>
          </a:p>
          <a:p>
            <a:pPr algn="ctr"/>
            <a:r>
              <a:rPr sz="2600" b="1">
                <a:solidFill>
                  <a:srgbClr val="2DC653"/>
                </a:solidFill>
              </a:rPr>
              <a:t>0.67%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645920"/>
            <a:ext cx="2103120" cy="137160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0BEC5"/>
                </a:solidFill>
              </a:rPr>
              <a:t>Difference
(RAG − Base)</a:t>
            </a:r>
          </a:p>
          <a:p>
            <a:pPr algn="ctr"/>
            <a:r>
              <a:rPr sz="2600" b="1">
                <a:solidFill>
                  <a:srgbClr val="E63B3B"/>
                </a:solidFill>
              </a:rPr>
              <a:t>−6.00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5468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2×2 Contingency Table (n=300)
                    Baseline ✓    Baseline ✗
  RAG v1 ✓              95             33
  RAG v1 ✗              51            121
RAG v1 is correct on 33 questions the baseline gets wrong — evidence of real retrieval benefit.
Baseline is correct on 51 questions RAG v1 gets wrong — mostly due to abstention inflating errors.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4A261"/>
                </a:solidFill>
              </a:rPr>
              <a:t>⚠  RAG v1's 6 pp deficit vs. baseline is almost entirely explained by abstention (UNPARSED=61). On parsed answers only, RAG v1 accuracy was 53.6% — higher than baseline.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RESULTS · 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RAG v2 — Forced-Choice Prompt (Final Configuration)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EC5"/>
                </a:solidFill>
              </a:rPr>
              <a:t>Prompt revised after validation on 100 held-out dev questions. Single test run on 300 questions.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45920"/>
            <a:ext cx="2103120" cy="137160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0BEC5"/>
                </a:solidFill>
              </a:rPr>
              <a:t>RAG v2
Accuracy</a:t>
            </a:r>
          </a:p>
          <a:p>
            <a:pPr algn="ctr"/>
            <a:r>
              <a:rPr sz="2600" b="1">
                <a:solidFill>
                  <a:srgbClr val="2DC653"/>
                </a:solidFill>
              </a:rPr>
              <a:t>52.00%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645920"/>
            <a:ext cx="2103120" cy="137160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0BEC5"/>
                </a:solidFill>
              </a:rPr>
              <a:t>RAG v2
Abstention</a:t>
            </a:r>
          </a:p>
          <a:p>
            <a:pPr algn="ctr"/>
            <a:r>
              <a:rPr sz="2600" b="1">
                <a:solidFill>
                  <a:srgbClr val="2DC653"/>
                </a:solidFill>
              </a:rPr>
              <a:t>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645920"/>
            <a:ext cx="2103120" cy="137160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0BEC5"/>
                </a:solidFill>
              </a:rPr>
              <a:t>Baseline
Accuracy</a:t>
            </a:r>
          </a:p>
          <a:p>
            <a:pPr algn="ctr"/>
            <a:r>
              <a:rPr sz="2600" b="1">
                <a:solidFill>
                  <a:srgbClr val="FFFFFF"/>
                </a:solidFill>
              </a:rPr>
              <a:t>48.67%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645920"/>
            <a:ext cx="2103120" cy="137160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0BEC5"/>
                </a:solidFill>
              </a:rPr>
              <a:t>Gain over
Baseline</a:t>
            </a:r>
          </a:p>
          <a:p>
            <a:pPr algn="ctr"/>
            <a:r>
              <a:rPr sz="2600" b="1">
                <a:solidFill>
                  <a:srgbClr val="2DC653"/>
                </a:solidFill>
              </a:rPr>
              <a:t>+3.33 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645920"/>
            <a:ext cx="2103120" cy="137160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6459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0BEC5"/>
                </a:solidFill>
              </a:rPr>
              <a:t>Val accuracy
(100-Q dev)</a:t>
            </a:r>
          </a:p>
          <a:p>
            <a:pPr algn="ctr"/>
            <a:r>
              <a:rPr sz="2600" b="1">
                <a:solidFill>
                  <a:srgbClr val="00B4D8"/>
                </a:solidFill>
              </a:rPr>
              <a:t>63.00%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546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Accuracy progression on 300 MedQA test questions (same sample, seed=42):
  Baseline (no retrieval):    48.67%  ←  control
  RAG v1 (original prompt):   42.67%  ←  20.3% abstention dragged accuracy down
  RAG v2 (revised prompt):    52.00%  ←  MAIN RESULT  (+3.33 pp over baseline, 0% abstention)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Prompt design: RAG v2 always commits to one answer letter and ends with 'Answer: &lt;letter&gt;'. It uses retrieved context when helpful, falls back to parametric knowledge when context is off-topic.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4A261"/>
                </a:solidFill>
              </a:rPr>
              <a:t>⚠  The 3.33 pp gain is within the margin of error for n=300 (~±5.7 pp at 95% CI). See Limitations slide.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Retrieval Quality &amp; Groundedness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EC5"/>
                </a:solidFill>
              </a:rPr>
              <a:t>Both metrics are keyword/lexical proxies — not human relevance judgments or semantic faithfulness scores.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303520" cy="246888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Retrieval Quality (Hit@k, Precision@k)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93392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Relevant = chunk contains key terms from correct answer text
(lowercase, punctuation removed, stopwords excluded)
  Hit@1   = 0.39    Precision@1 = 0.39
  Hit@3   = 0.59    Precision@3 = 0.39
  Hit@5   = 0.71    Precision@5 = 0.39
Hit@k rises with k (39%→71%): more passages = better recall.
Precision stays flat: most questions have 0 or 1 keyword-relevant chunk.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600200"/>
            <a:ext cx="5852160" cy="246888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66420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Groundedness (Lexical Overlap Proxy)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993392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 sentence is grounded if ≥50% of its content words
appear in the concatenated top-5 retrieved chunks.
  All 300 answers:       0.64 avg grounded fraction
  Correct answers:       0.67
  Incorrect answers:     0.72
Incorrect answers are MORE lexically grounded — the model
faithfully copies language from off-target retrieved chunks.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0624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A261"/>
                </a:solidFill>
              </a:rPr>
              <a:t>Key finding: The retriever is casting a wide net (Hit@5=71%), but precision is low and groundedness does not separate correct from incorrect — the model uses context regardless of its relevance.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RAG v2 — Error Buckets (144 errors / 300 questions)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EC5"/>
                </a:solidFill>
              </a:rPr>
              <a:t>Same bucketing rules applied to both RAG v1 and RAG v2 for comparability.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651760" cy="2560320"/>
          </a:xfrm>
          <a:prstGeom prst="rect">
            <a:avLst/>
          </a:prstGeom>
          <a:solidFill>
            <a:srgbClr val="142A40"/>
          </a:solidFill>
          <a:ln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733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</a:rPr>
              <a:t>Parse
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57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DC653"/>
                </a:solidFill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877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of errors: 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RAG v2 forced-choice prompt
eliminates all abstention.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600200"/>
            <a:ext cx="2651760" cy="2560320"/>
          </a:xfrm>
          <a:prstGeom prst="rect">
            <a:avLst/>
          </a:prstGeom>
          <a:solidFill>
            <a:srgbClr val="142A40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6733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61"/>
                </a:solidFill>
              </a:rPr>
              <a:t>Retrieval
Miss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057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4A261"/>
                </a:solidFill>
              </a:rPr>
              <a:t>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877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of errors: 34.0%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top-5 chunk contained
key terms from correct answer.
Retriever limitation.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600200"/>
            <a:ext cx="2651760" cy="2560320"/>
          </a:xfrm>
          <a:prstGeom prst="rect">
            <a:avLst/>
          </a:prstGeom>
          <a:solidFill>
            <a:srgbClr val="142A40"/>
          </a:solidFill>
          <a:ln>
            <a:solidFill>
              <a:srgbClr val="E6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6733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3B3B"/>
                </a:solidFill>
              </a:rPr>
              <a:t>Model Ignored
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057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63B3B"/>
                </a:solidFill>
              </a:rPr>
              <a:t>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5877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of errors: 66.0%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Relevant chunk was retrieved
but model still answered wrong.
Primary error mode.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1600200"/>
            <a:ext cx="2651760" cy="2560320"/>
          </a:xfrm>
          <a:prstGeom prst="rect">
            <a:avLst/>
          </a:prstGeom>
          <a:solidFill>
            <a:srgbClr val="142A40"/>
          </a:solidFill>
          <a:ln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6733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C5"/>
                </a:solidFill>
              </a:rPr>
              <a:t>Other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057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0BEC5"/>
                </a:solidFill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5877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of errors: 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ambiguous cases —
all errors cleanly categorised.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97680"/>
            <a:ext cx="114601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RAG v1 error buckets (172 errors):   Parse failure=61 (35.5%)  |  Retrieval miss=36 (20.9%)  |  Model ignored context=75 (43.6%)
RAG v2 improvement:  Parse failures eliminated entirely.  Retrieval misses up slightly (more questions now parsed → more exposed).  Model-ignored-context remains the dominant failure — the key direction for future work.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Honest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EC5"/>
                </a:solidFill>
              </a:rPr>
              <a:t>Presented transparently — these boundaries define where the results can and cannot be generalized.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60175" cy="1051560"/>
          </a:xfrm>
          <a:prstGeom prst="rect">
            <a:avLst/>
          </a:prstGeom>
          <a:solidFill>
            <a:srgbClr val="142A40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⚠  Statistical margin of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47672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The 3.33 pp gain of RAG v2 over baseline is within the margin of error for n=300 (±5.7 pp at 95% CI using a two-proportion z-test). A larger sample is needed before claiming a statistically significant improvement.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11460175" cy="1051560"/>
          </a:xfrm>
          <a:prstGeom prst="rect">
            <a:avLst/>
          </a:prstGeom>
          <a:solidFill>
            <a:srgbClr val="142A40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0720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⚠  Forced-choice prompt confound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90672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Part of RAG v2's gain may come from the forced-choice prompt itself — not from retrieval. A fair no-context forced-choice control would isolate the prompt effect. This experiment was not run.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86200"/>
            <a:ext cx="11460175" cy="1051560"/>
          </a:xfrm>
          <a:prstGeom prst="rect">
            <a:avLst/>
          </a:prstGeom>
          <a:solidFill>
            <a:srgbClr val="142A40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5020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⚠  Groundedness is a lexical proxy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33672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Groundedness scores measure keyword overlap between generated text and retrieved chunks. They do NOT measure semantic faithfulness, factual correctness, or clinical safety. Incorrect answers scored 0.72 — higher than correct ones (0.67) — showing the proxy does not separate quality.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029200"/>
            <a:ext cx="11460175" cy="1051560"/>
          </a:xfrm>
          <a:prstGeom prst="rect">
            <a:avLst/>
          </a:prstGeom>
          <a:solidFill>
            <a:srgbClr val="142A40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9320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⚠  Retrieval metrics are keyword-based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76672"/>
            <a:ext cx="11185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Hit@k and Precision@k measure whether key terms from the correct answer appear in retrieved text. This is NOT human relevance judgment. A chunk can score as relevant by term-matching without providing the reasoning needed to answer the question.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BEC5"/>
                </a:solidFill>
              </a:rPr>
              <a:t>End-to-end RAG pipeline with Llama 3, evaluated on MedQA (USMLE), 300-question test 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60175" cy="100584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✅  End-to-end RAG pipeline built and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47672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Llama 3 + FAISS retrieval over 36,723 textbook chunks. All phases run locally, CPU-only, with full reproducibility (fixed seeds, resumable evaluation).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79192"/>
            <a:ext cx="11460175" cy="100584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✅  Prompt engineering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26664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RAG v1's hedging prompt caused 20.3% abstention and masked a 53.6% parsed accuracy. RAG v2's forced-choice prompt eliminated abstention and raised overall accuracy to 52.0% (+3.33 pp over baseline).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58184"/>
            <a:ext cx="11460175" cy="1005840"/>
          </a:xfrm>
          <a:prstGeom prst="rect">
            <a:avLst/>
          </a:prstGeom>
          <a:solidFill>
            <a:srgbClr val="142A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22192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✅  Retrieval reaches relevant content 71% of the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05656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Hit@5 = 0.71 — for 71% of questions, at least one of the top-5 chunks contains a key term from the correct answer. 66% of remaining errors are 'model ignored context' — the generator does not exploit what the retriever found.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37176"/>
            <a:ext cx="11460175" cy="1005840"/>
          </a:xfrm>
          <a:prstGeom prst="rect">
            <a:avLst/>
          </a:prstGeom>
          <a:solidFill>
            <a:srgbClr val="142A40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901184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🔭  Primary direction for future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84648"/>
            <a:ext cx="11185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Reduce 'model ignored context' errors (66% of all v2 errors) via re-ranking, context compression, or fine-tuning the generator to better exploit retrieved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2026-08-27T15:43:17Z</dcterms:created>
  <dcterms:modified xsi:type="dcterms:W3CDTF">2026-08-27T15:43:17Z</dcterms:modified>
</cp:coreProperties>
</file>