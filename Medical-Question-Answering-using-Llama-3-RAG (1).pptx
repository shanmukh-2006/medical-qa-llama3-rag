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59" r:id="rId9"/>
    <p:sldId id="258" r:id="rId10"/>
    <p:sldId id="265" r:id="rId11"/>
  </p:sldIdLst>
  <p:sldSz cx="12192000" cy="6858000"/>
  <p:notesSz cx="6858000" cy="12192000"/>
  <p:embeddedFontLst>
    <p:embeddedFont>
      <p:font typeface="Instrument Sans Bold" panose="020B0604020202020204" charset="0"/>
      <p:regular r:id="rId13"/>
    </p:embeddedFont>
    <p:embeddedFont>
      <p:font typeface="Instrument Sans Medium" panose="020B0604020202020204" charset="0"/>
      <p:regular r:id="rId14"/>
    </p:embeddedFont>
    <p:embeddedFont>
      <p:font typeface="Instrument Sans Semi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72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4355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3426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Medical Question Answering using Llama 3 + RAG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356682" y="198169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Retrieval-Augmented Generation System for Grounded, Trustworthy Clinical Decision Support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473623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1E3063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2415" y="2719983"/>
            <a:ext cx="5470785" cy="3003649"/>
          </a:xfrm>
          <a:prstGeom prst="roundRect">
            <a:avLst>
              <a:gd name="adj" fmla="val 7929"/>
            </a:avLst>
          </a:prstGeom>
          <a:solidFill>
            <a:srgbClr val="003366"/>
          </a:solidFill>
          <a:ln/>
        </p:spPr>
      </p:sp>
      <p:sp>
        <p:nvSpPr>
          <p:cNvPr id="6" name="Text 4"/>
          <p:cNvSpPr/>
          <p:nvPr/>
        </p:nvSpPr>
        <p:spPr>
          <a:xfrm>
            <a:off x="707710" y="2885281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Project Team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7710" y="3309045"/>
            <a:ext cx="5140196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 Shanmukh</a:t>
            </a: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24BCA7196</a:t>
            </a:r>
            <a:endParaRPr lang="en-US" sz="130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Kamakshi Talekar</a:t>
            </a: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24BCE7263</a:t>
            </a:r>
            <a:endParaRPr lang="en-US" sz="130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V Abhiram</a:t>
            </a: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24BCA7402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G Krishna Kaushal</a:t>
            </a: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24BCE7493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288528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3904" y="3309045"/>
            <a:ext cx="5232666" cy="226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project explores the integration of Meta's </a:t>
            </a: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Llama 3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large language model with a </a:t>
            </a: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Retrieval-Augmented Generation (RAG)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pipeline to enable safe, accurate, and source-grounded medical question answering.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Evaluated on the </a:t>
            </a: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MedQA (USMLE)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benchmark using a corpus of 18 medical textbooks, this system directly addresses the hallucination and knowledge-staleness problems endemic to standalone LLMs in clinical settings.</a:t>
            </a:r>
            <a:endParaRPr lang="en-US" sz="13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0926EA-4A36-7B66-6BFD-C69918811788}"/>
              </a:ext>
            </a:extLst>
          </p:cNvPr>
          <p:cNvSpPr/>
          <p:nvPr/>
        </p:nvSpPr>
        <p:spPr>
          <a:xfrm>
            <a:off x="10879494" y="6428792"/>
            <a:ext cx="1312506" cy="36389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3748"/>
            <a:ext cx="1003573" cy="247352"/>
          </a:xfrm>
          <a:prstGeom prst="roundRect">
            <a:avLst>
              <a:gd name="adj" fmla="val 47390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759104" y="512564"/>
            <a:ext cx="1417900" cy="149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775196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Why Medical QA Demands a Better Approach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61475" y="1524198"/>
            <a:ext cx="1086874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Large language models have demonstrated remarkable fluency — but fluency without factual grounding is dangerous in clinical contexts. Four interconnected problems drive this project.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21409"/>
            <a:ext cx="5354206" cy="20063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9437" y="2403177"/>
            <a:ext cx="491447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🚨</a:t>
            </a: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LLMs Hallucinate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9437" y="2753618"/>
            <a:ext cx="4914479" cy="1292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Models like Llama 3 are powerful but routinely generate plausible-sounding yet factually false medical information. In clinical contexts, this is not a minor inconvenience — it is a patient safety risk that makes unaugmented LLMs unsuitable for medical use.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5915" y="2221409"/>
            <a:ext cx="5354305" cy="20063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33877" y="2403177"/>
            <a:ext cx="491457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📚</a:t>
            </a: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Fine-Tuned Models Lack Grounding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33877" y="2753618"/>
            <a:ext cx="4914579" cy="1292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ChatDoctor and similar systems improve conversational quality by fine-tuning on patient-doctor dialogues, but they rely on </a:t>
            </a:r>
            <a:r>
              <a:rPr lang="en-US" sz="12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static, memorized knowledge</a:t>
            </a: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without real-time verification. Knowledge becomes stale, and the model cannot cite where its answer came from.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387949"/>
            <a:ext cx="5354206" cy="20063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9437" y="4569718"/>
            <a:ext cx="491447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RAG Solves the Grounding Problem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919437" y="4920159"/>
            <a:ext cx="4914479" cy="1033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Retrieval-Augmented Generation retrieves verified medical documents </a:t>
            </a:r>
            <a:r>
              <a:rPr lang="en-US" sz="12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before</a:t>
            </a: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generation, ensuring answers are conditioned on authoritative, up-to-date sources. This fundamentally shifts the system from memorization to evidence-based reasoning.</a:t>
            </a:r>
            <a:endParaRPr lang="en-US" sz="12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5915" y="4387949"/>
            <a:ext cx="5354305" cy="200630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33877" y="4569718"/>
            <a:ext cx="491457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Career &amp; Research Relevance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433877" y="4920159"/>
            <a:ext cx="4914579" cy="1292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Medical AI and health-tech are among the fastest-growing fields in applied NLP. RAG-based clinical systems represent the frontier of safe, trustworthy decision support — making this project directly relevant to both academic and industry career trajectories.</a:t>
            </a:r>
            <a:endParaRPr lang="en-US" sz="12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077A051-7A60-D8EF-E7C8-215724D8C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4171" y="6462785"/>
            <a:ext cx="1322947" cy="3718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9404"/>
            <a:ext cx="1615142" cy="172641"/>
          </a:xfrm>
          <a:prstGeom prst="roundRect">
            <a:avLst>
              <a:gd name="adj" fmla="val 47421"/>
            </a:avLst>
          </a:prstGeom>
          <a:noFill/>
          <a:ln w="6350">
            <a:solidFill>
              <a:srgbClr val="84C1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9636" y="503436"/>
            <a:ext cx="2088403" cy="104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LITERATURE SURVEY · PART 1 OF 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673298"/>
            <a:ext cx="10868745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RAG Architectures for Medical QA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1475" y="1145778"/>
            <a:ext cx="11478330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following five works represent key developments in retrieval-augmented and hybrid approaches to medical NLP, spanning evaluation frameworks, filtering strategies, and iterative retrieval.</a:t>
            </a:r>
            <a:endParaRPr lang="en-US" sz="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87177"/>
            <a:ext cx="10868745" cy="9378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65" y="1513582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MedRGB — Ngo Trung et al., 2024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07065" y="1738114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Evaluation framework testing RAG systems under realistic failure scenarios — noisy documents, conflicting evidence, and multi-hop reasoning.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Tests robustness beyond standard retrieve-then-answer pipelines.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Framework-focused only; proposes no new model architecture.</a:t>
            </a:r>
            <a:endParaRPr lang="en-US" sz="8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03078"/>
            <a:ext cx="10868745" cy="9378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65" y="2529483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RAG² / Rationale-Guided RAG — Sohn et al., NAACL 2025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207065" y="2754015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Filtering model selects informative snippets; LLM-generated rationales serve as refined retrieval queries, reducing noise in retrieved context.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Directly tackles irrelevant and noisy retrieval — a major failure mode in standard RAG.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Adds pipeline complexity and inference overhead.</a:t>
            </a:r>
            <a:endParaRPr lang="en-US" sz="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418979"/>
            <a:ext cx="10868745" cy="9378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7065" y="3545384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Iterative Follow-up Questions — Xiong et al., PSB 2025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207065" y="3769916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When initial retrieval is insufficient, the system generates follow-up queries to iteratively gather additional relevant context.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Handles complex, multi-step clinical questions that require chained reasoning.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Multiple retrieval rounds increase system latency significantly.</a:t>
            </a:r>
            <a:endParaRPr lang="en-US" sz="8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434880"/>
            <a:ext cx="10868745" cy="93781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07065" y="4561284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MKRAG — Shi et al., AMIA 2024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207065" y="4785816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Retrieval-augmented generation applied to Vicuna-7B without fine-tuning; improved accuracy from </a:t>
            </a: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44.46% → 48.54%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on medical benchmarks.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Demonstrates RAG benefit without any fine-tuning overhead.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Older, smaller model; modest gain of ~4 percentage points.</a:t>
            </a:r>
            <a:endParaRPr lang="en-US" sz="8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450780"/>
            <a:ext cx="10868745" cy="93781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07065" y="5577185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QLoRA + RAG — 2025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1207065" y="5801717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Combines quantized low-rank adaptation (QLoRA) fine-tuning with a RAG retrieval layer for resource-constrained deployment.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Resource-efficient — viable for smaller institutions without high-end GPU clusters.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Trade-off between quantization efficiency and full model capability.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3DC2864-DD7E-1653-5675-5A3424912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6858" y="6435427"/>
            <a:ext cx="1322947" cy="3718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9404"/>
            <a:ext cx="1629925" cy="172641"/>
          </a:xfrm>
          <a:prstGeom prst="roundRect">
            <a:avLst>
              <a:gd name="adj" fmla="val 47421"/>
            </a:avLst>
          </a:prstGeom>
          <a:noFill/>
          <a:ln w="6350">
            <a:solidFill>
              <a:srgbClr val="84C1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9636" y="503436"/>
            <a:ext cx="2103186" cy="104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LITERATURE SURVEY · PART 2 OF 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673298"/>
            <a:ext cx="10868745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Fine-Tuning Approaches for Medical LLMs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1475" y="1145778"/>
            <a:ext cx="11478330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Five works examining how fine-tuning strategies — from chain-of-thought instruction tuning to domain-specific dialogue training — shape medical LLM performance, along with their key limitations.</a:t>
            </a:r>
            <a:endParaRPr lang="en-US" sz="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87177"/>
            <a:ext cx="10868745" cy="9378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65" y="1513582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Fine-Tuning LLaMA-3.2-3B for Medical CoT — 2025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07065" y="1738114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Chain-of-thought fine-tuning applied to the smaller 3B parameter variant of the LLaMA-3.2 family, optimizing reasoning traces for medical questions.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Substantially lower compute cost relative to 8B+ models.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Smaller model trades off reasoning depth on complex multi-step clinical questions.</a:t>
            </a:r>
            <a:endParaRPr lang="en-US" sz="8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03078"/>
            <a:ext cx="10868745" cy="9378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65" y="2529483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ChatDoctor — Li et al., Cureus 2023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207065" y="2754015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LLaMA fine-tuned on 100k patient-doctor dialogues with a secondary self-directed retrieval module drawing from Wikipedia and medical databases.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Outperforms ChatGPT on precision, recall, and F1 for medical dialogue tasks.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Retrieval is a secondary add-on, not core design; core knowledge remains static and memorized.</a:t>
            </a:r>
            <a:endParaRPr lang="en-US" sz="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418979"/>
            <a:ext cx="10868745" cy="9378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7065" y="3545384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Fine-Tuning Llama 3 for Physician Letters — Frontiers in AI, 2024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207065" y="3769916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Local fine-tuning of Llama 3 for privacy-preserving clinical letter generation without cloud data transmission.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Strong privacy compliance — runs entirely on-premise.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Narrow task scope (letter generation only); not designed for general-purpose medical QA.</a:t>
            </a:r>
            <a:endParaRPr lang="en-US" sz="8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434880"/>
            <a:ext cx="10868745" cy="93781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07065" y="4561284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Instruction Tuning in Biomedical NLP — 2024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207065" y="4785816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Ablation study systematically examining instruction tuning strategies across biomedical NLP tasks to identify which components drive performance gains.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Provides actionable insights into effective tuning approaches for the biomedical domain.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Analysis-focused; no deployable system is produced.</a:t>
            </a:r>
            <a:endParaRPr lang="en-US" sz="8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450780"/>
            <a:ext cx="10868745" cy="93781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07065" y="5577185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Medical Transcription in Low-Resource Languages — 2025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1207065" y="5801717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LLaMA 3.1-8B fine-tuned on Finnish clinical dialogues, achieving </a:t>
            </a: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BERTScore 0.82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despite low BLEU scores — demonstrating semantic adequacy over surface-level match.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High semantic similarity on a language the model was not natively pre-trained on.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Extremely small dataset (7 samples); generalizability is severely limited.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0F62A8A-A386-F163-ED1F-B75F867B3B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6858" y="6448733"/>
            <a:ext cx="1322947" cy="3718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9404"/>
            <a:ext cx="1632306" cy="172641"/>
          </a:xfrm>
          <a:prstGeom prst="roundRect">
            <a:avLst>
              <a:gd name="adj" fmla="val 47421"/>
            </a:avLst>
          </a:prstGeom>
          <a:noFill/>
          <a:ln w="6350">
            <a:solidFill>
              <a:srgbClr val="84C1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9636" y="503436"/>
            <a:ext cx="2105568" cy="104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LITERATURE SURVEY · PART 3 OF 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673298"/>
            <a:ext cx="10868745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Benchmarks, Datasets &amp; RAG Evaluation Frameworks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1475" y="1145778"/>
            <a:ext cx="11478330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Five works establishing the evaluation landscape for medical QA — from foundational datasets to systematic RAG component benchmarking — that directly inform our experimental design.</a:t>
            </a:r>
            <a:endParaRPr lang="en-US" sz="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87177"/>
            <a:ext cx="10868745" cy="9378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65" y="1513582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MedExQA — 2024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07065" y="1738114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Benchmark requiring models to produce multiple explanation styles alongside answers, moving beyond single-token accuracy to explainability assessment.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Tests explainability — critical for clinical trust and regulatory acceptance.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Subjective explanation quality is difficult to evaluate automatically at scale.</a:t>
            </a:r>
            <a:endParaRPr lang="en-US" sz="8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03078"/>
            <a:ext cx="10868745" cy="9378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65" y="2529483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PubMedQA — Jin et al., EMNLP-IJCNLP 2019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207065" y="2754015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Biomedical QA from PubMed abstracts: </a:t>
            </a: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1k expert-annotated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61.2k unlabeled, 211.3k synthetic instances. Requires reasoning over quantitative research findings.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First QA dataset demanding reasoning over quantitative biomedical data; pairs naturally with RAG retrieval of PubMed content.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Best model at </a:t>
            </a: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68.1%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vs. </a:t>
            </a: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78% human performance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; yes/no/maybe format is simplistic for complex clinical scenarios.</a:t>
            </a:r>
            <a:endParaRPr lang="en-US" sz="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418979"/>
            <a:ext cx="10868745" cy="9378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7065" y="3545384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Benchmarking RAG for Medicine — Xiong et al., ACL Findings 2024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207065" y="3769916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Systematic benchmark of RAG pipeline components — retrievers, corpora, and model sizes — to identify which configurations drive medical QA performance.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Directly relevant for pipeline design; provides evidence-based component selection guidance.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Benchmark-only study; no new architecture is proposed.</a:t>
            </a:r>
            <a:endParaRPr lang="en-US" sz="8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434880"/>
            <a:ext cx="10868745" cy="93781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07065" y="4561284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LLM Benchmarks in Medical Tasks — Survey, 2024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207065" y="4785816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Comprehensive survey of medical LLM benchmarks — MedQA, MedMCQA, PubMedQA, and others — providing a unified reference for the evaluation landscape.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Single reference for benchmark comparison and selection across projects.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Literature review only; no original experiments conducted.</a:t>
            </a:r>
            <a:endParaRPr lang="en-US" sz="8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450780"/>
            <a:ext cx="10868745" cy="93781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07065" y="5577185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MedExpQA — ScienceDirect, 2024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1207065" y="5801717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Multilingual medical QA benchmarking, evaluating LLM performance across non-English languages to expose performance disparities.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Highlights critical non-English performance gaps in medical AI — important for global health equity.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Multilingual scope is outside the focus of this project.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FF72E4E-0E9F-26E2-CC5A-291DA9BC1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6858" y="6448554"/>
            <a:ext cx="1322947" cy="3718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9404"/>
            <a:ext cx="1634985" cy="172641"/>
          </a:xfrm>
          <a:prstGeom prst="roundRect">
            <a:avLst>
              <a:gd name="adj" fmla="val 47421"/>
            </a:avLst>
          </a:prstGeom>
          <a:noFill/>
          <a:ln w="6350">
            <a:solidFill>
              <a:srgbClr val="84C1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9636" y="503436"/>
            <a:ext cx="2108246" cy="104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LITERATURE SURVEY · PART 4 OF 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673298"/>
            <a:ext cx="10868745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Hallucination Detection &amp; Clinical Safety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1475" y="1145778"/>
            <a:ext cx="11478330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Five works addressing the hallucination problem in medical LLMs — a research thread directly motivating this project's use of RAG as a structural intervention against factual drift.</a:t>
            </a:r>
            <a:endParaRPr lang="en-US" sz="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87177"/>
            <a:ext cx="10868745" cy="9378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65" y="1513582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MedHallBench — 2024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07065" y="1738114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Purpose-built benchmark for measuring hallucination rates in medical LLMs across diverse clinical question types.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First benchmark specifically designed for medical hallucination measurement — fills a critical evaluation gap.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Detection-only framework; proposes no reduction or mitigation strategies.</a:t>
            </a:r>
            <a:endParaRPr lang="en-US" sz="8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03078"/>
            <a:ext cx="10868745" cy="9378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65" y="2529483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MedHal — 2024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207065" y="2754015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Hallucination detection dataset constructed on top of PubMedQA, pairing correct answers with synthetically generated hallucinated alternatives.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Integrates seamlessly with PubMedQA-based experimental setups.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Synthetically generated hallucinations may not accurately reflect real-world LLM failure patterns.</a:t>
            </a:r>
            <a:endParaRPr lang="en-US" sz="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418979"/>
            <a:ext cx="10868745" cy="9378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7065" y="3545384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Risk-Sensitive Hallucination Score (RSHS) — 2024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207065" y="3769916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RSHS framework detecting high-risk language patterns — treatment directives, urgency cues, and over-confident clinical recommendations — using keyword heuristics.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Exposes dangerous "high-risk, low-grounding" failures that standard accuracy metrics miss entirely.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Keyword heuristics may miss nuanced risks; synthetic prompts limit real-world clinical applicability.</a:t>
            </a:r>
            <a:endParaRPr lang="en-US" sz="8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434880"/>
            <a:ext cx="10868745" cy="93781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07065" y="4561284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Rethinking RAG for Medicine — Large-Scale Expert Evaluation, 2025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207065" y="4785816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Systematic expert clinical evaluation of RAG systems, replacing automated metrics with physician-level quality assessment.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Human evaluation is far more clinically credible than automated metrics like BLEU or accuracy.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Expert evaluation is expensive, slow, and difficult to scale for continuous benchmarking.</a:t>
            </a:r>
            <a:endParaRPr lang="en-US" sz="8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450780"/>
            <a:ext cx="10868745" cy="93781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07065" y="5577185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Hallucinations &amp; Key Information Extraction in Medical Texts — 2025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1207065" y="5801717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Assesses hallucination rates across multiple open-source LLMs including base and fine-tuned variants, evaluating key clinical information extraction fidelity.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Directly comparable to the Llama 3 experimental setup used in this project.</a:t>
            </a:r>
            <a:endParaRPr lang="en-US" sz="8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Evaluates base and fine-tuned models only — does not assess RAG-augmented configurations.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F5B097F-12C7-389F-F20E-74EE265CD6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9053" y="6486112"/>
            <a:ext cx="1322947" cy="3718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94705"/>
            <a:ext cx="1822702" cy="219869"/>
          </a:xfrm>
          <a:prstGeom prst="roundRect">
            <a:avLst>
              <a:gd name="adj" fmla="val 47390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748289" y="538063"/>
            <a:ext cx="2258658" cy="13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RESEARCH GAP &amp; OBJECTIVE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765175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What the Literature Leaves Unresolved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57298" y="1407319"/>
            <a:ext cx="5466221" cy="4955877"/>
          </a:xfrm>
          <a:prstGeom prst="roundRect">
            <a:avLst>
              <a:gd name="adj" fmla="val 4205"/>
            </a:avLst>
          </a:prstGeom>
          <a:solidFill>
            <a:srgbClr val="003366"/>
          </a:solidFill>
          <a:ln/>
        </p:spPr>
      </p:sp>
      <p:sp>
        <p:nvSpPr>
          <p:cNvPr id="6" name="Text 4"/>
          <p:cNvSpPr/>
          <p:nvPr/>
        </p:nvSpPr>
        <p:spPr>
          <a:xfrm>
            <a:off x="701955" y="1533922"/>
            <a:ext cx="517690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Three Critical Gaps in Existing Work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01955" y="1902321"/>
            <a:ext cx="325529" cy="325537"/>
          </a:xfrm>
          <a:prstGeom prst="roundRect">
            <a:avLst>
              <a:gd name="adj" fmla="val 40010"/>
            </a:avLst>
          </a:prstGeom>
          <a:solidFill>
            <a:srgbClr val="CEE6FD"/>
          </a:solidFill>
          <a:ln/>
        </p:spPr>
      </p:sp>
      <p:sp>
        <p:nvSpPr>
          <p:cNvPr id="8" name="Text 6"/>
          <p:cNvSpPr/>
          <p:nvPr/>
        </p:nvSpPr>
        <p:spPr>
          <a:xfrm>
            <a:off x="756177" y="1929408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54084" y="1952030"/>
            <a:ext cx="472477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Static Knowledge in Fine-Tuned Models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54084" y="2304653"/>
            <a:ext cx="4724778" cy="868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Fine-tuned medical LLMs (ChatDoctor, CoT-tuned variants) embed knowledge into model weights at training time. This knowledge becomes stale and cannot be updated without costly retraining — and remains prone to hallucination with no verification mechanism.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1955" y="3426222"/>
            <a:ext cx="325529" cy="325537"/>
          </a:xfrm>
          <a:prstGeom prst="roundRect">
            <a:avLst>
              <a:gd name="adj" fmla="val 40010"/>
            </a:avLst>
          </a:prstGeom>
          <a:solidFill>
            <a:srgbClr val="CEE6FD"/>
          </a:solidFill>
          <a:ln/>
        </p:spPr>
      </p:sp>
      <p:sp>
        <p:nvSpPr>
          <p:cNvPr id="12" name="Text 10"/>
          <p:cNvSpPr/>
          <p:nvPr/>
        </p:nvSpPr>
        <p:spPr>
          <a:xfrm>
            <a:off x="756177" y="3453309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54084" y="3475930"/>
            <a:ext cx="472477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Outdated Base Models in RAG Systems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54084" y="3828554"/>
            <a:ext cx="4724778" cy="868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Most existing RAG-medicine systems — including MKRAG (Vicuna-7B) and earlier GPT-3.5-based pipelines — use older or smaller LLMs as the generator. Newer, stronger open-source models like </a:t>
            </a:r>
            <a:r>
              <a:rPr lang="en-US" sz="110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Llama 3</a:t>
            </a: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have not been systematically evaluated in a full RAG configuration on MedQA.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1955" y="4950123"/>
            <a:ext cx="325529" cy="325537"/>
          </a:xfrm>
          <a:prstGeom prst="roundRect">
            <a:avLst>
              <a:gd name="adj" fmla="val 40010"/>
            </a:avLst>
          </a:prstGeom>
          <a:solidFill>
            <a:srgbClr val="CEE6FD"/>
          </a:solidFill>
          <a:ln/>
        </p:spPr>
      </p:sp>
      <p:sp>
        <p:nvSpPr>
          <p:cNvPr id="16" name="Text 14"/>
          <p:cNvSpPr/>
          <p:nvPr/>
        </p:nvSpPr>
        <p:spPr>
          <a:xfrm>
            <a:off x="756177" y="4977209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154084" y="4999831"/>
            <a:ext cx="472477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Missing Source Attribution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54084" y="5352455"/>
            <a:ext cx="4724778" cy="868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Few systems combine factual grounding with explicit source attribution. For clinical trust and regulatory acceptability, transparency about </a:t>
            </a:r>
            <a:r>
              <a:rPr lang="en-US" sz="1100" i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where</a:t>
            </a: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 answer comes from is as important as whether the answer is correct.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78703" y="1533922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Project Objective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5689" y="2016224"/>
            <a:ext cx="5040881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 develop a Retrieval-Augmented Generation system using Llama 3 that improves factual accuracy and reduces hallucination in medical question answering by grounding responses in verified medical sources.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78703" y="1902321"/>
            <a:ext cx="19050" cy="879078"/>
          </a:xfrm>
          <a:prstGeom prst="roundRect">
            <a:avLst>
              <a:gd name="adj" fmla="val 49999"/>
            </a:avLst>
          </a:prstGeom>
          <a:solidFill>
            <a:srgbClr val="84C1FA"/>
          </a:solidFill>
          <a:ln/>
        </p:spPr>
      </p:sp>
      <p:sp>
        <p:nvSpPr>
          <p:cNvPr id="22" name="Text 20"/>
          <p:cNvSpPr/>
          <p:nvPr/>
        </p:nvSpPr>
        <p:spPr>
          <a:xfrm>
            <a:off x="6278703" y="2923778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How the Objective Addresses the Gaps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78703" y="3276402"/>
            <a:ext cx="5257867" cy="1391047"/>
          </a:xfrm>
          <a:prstGeom prst="rect">
            <a:avLst/>
          </a:prstGeom>
          <a:noFill/>
          <a:ln/>
        </p:spPr>
        <p:txBody>
          <a:bodyPr wrap="square" lIns="0" tIns="57887" rIns="0" bIns="0" rtlCol="0" anchor="t">
            <a:normAutofit/>
          </a:bodyPr>
          <a:lstStyle/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Gap 1 → RAG grounding: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Every answer is conditioned on retrieved text — not static weights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Gap 2 → Llama 3 as generator: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Modern, strong open-source LLM applied in full RAG configuration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Gap 3 → Source attribution: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Evaluation explicitly measures retrieval relevance and grounding transparency</a:t>
            </a:r>
            <a:endParaRPr lang="en-US" sz="11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C994998-D07D-7241-08E1-14049E071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8746" y="6486112"/>
            <a:ext cx="1322947" cy="3718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76052"/>
            <a:ext cx="762775" cy="243384"/>
          </a:xfrm>
          <a:prstGeom prst="roundRect">
            <a:avLst>
              <a:gd name="adj" fmla="val 47398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757516" y="524073"/>
            <a:ext cx="1180277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781447"/>
            <a:ext cx="10868745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Benchmark &amp; Knowledge Base Selection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61475" y="1514872"/>
            <a:ext cx="10868745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choice of datasets directly determines the credibility of evaluation and the quality of retrieved context. Both selections are grounded in established literature conventions.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6086" y="2194024"/>
            <a:ext cx="5469694" cy="3133923"/>
          </a:xfrm>
          <a:prstGeom prst="roundRect">
            <a:avLst>
              <a:gd name="adj" fmla="val 7362"/>
            </a:avLst>
          </a:prstGeom>
          <a:solidFill>
            <a:srgbClr val="003366"/>
          </a:solidFill>
          <a:ln/>
        </p:spPr>
      </p:sp>
      <p:sp>
        <p:nvSpPr>
          <p:cNvPr id="7" name="Text 5"/>
          <p:cNvSpPr/>
          <p:nvPr/>
        </p:nvSpPr>
        <p:spPr>
          <a:xfrm>
            <a:off x="706221" y="2349202"/>
            <a:ext cx="5149424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QA Benchmark: MedQA (USMLE)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06221" y="2754709"/>
            <a:ext cx="5149424" cy="100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USMLE-style multiple-choice medical questions representing the standard benchmark for evaluating medical LLMs. Questions require clinical reasoning across a broad range of medical topics, mirroring real licensing exam difficulty.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6221" y="3903563"/>
            <a:ext cx="5149424" cy="1117798"/>
          </a:xfrm>
          <a:prstGeom prst="rect">
            <a:avLst/>
          </a:prstGeom>
          <a:noFill/>
          <a:ln/>
        </p:spPr>
        <p:txBody>
          <a:bodyPr wrap="square" lIns="0" tIns="64089" rIns="0" bIns="0" rtlCol="0" anchor="t">
            <a:normAutofit/>
          </a:bodyPr>
          <a:lstStyle/>
          <a:p>
            <a:pPr marL="254000" indent="-254000" algn="l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Multi-choice format aligned with real clinical exam standards</a:t>
            </a:r>
            <a:endParaRPr lang="en-US" sz="1250" dirty="0"/>
          </a:p>
          <a:p>
            <a:pPr marL="254000" indent="-254000" algn="l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Widely used — enables direct, fair comparison with published results</a:t>
            </a:r>
            <a:endParaRPr lang="en-US" sz="1250" dirty="0"/>
          </a:p>
          <a:p>
            <a:pPr marL="254000" indent="-254000" algn="l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 facto standard for medical QA evaluation in the NLP literature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97653" y="2349202"/>
            <a:ext cx="5238917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RAG Corpus: Medical Textbooks + PubMed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297653" y="2754709"/>
            <a:ext cx="5238917" cy="100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retrieval knowledge base is constructed from MedQA's accompanying </a:t>
            </a:r>
            <a:r>
              <a:rPr lang="en-US" sz="12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18 medical textbooks</a:t>
            </a: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with optional extension via </a:t>
            </a:r>
            <a:r>
              <a:rPr lang="en-US" sz="12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PubMed abstracts</a:t>
            </a: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for broader coverage of recent biomedical research.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97653" y="3903563"/>
            <a:ext cx="5238917" cy="1370112"/>
          </a:xfrm>
          <a:prstGeom prst="rect">
            <a:avLst/>
          </a:prstGeom>
          <a:noFill/>
          <a:ln/>
        </p:spPr>
        <p:txBody>
          <a:bodyPr wrap="square" lIns="0" tIns="64089" rIns="0" bIns="0" rtlCol="0" anchor="t">
            <a:normAutofit/>
          </a:bodyPr>
          <a:lstStyle/>
          <a:p>
            <a:pPr marL="254000" indent="-254000" algn="l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18 curated textbooks provide structured, authoritative clinical knowledge</a:t>
            </a:r>
            <a:endParaRPr lang="en-US" sz="1250" dirty="0"/>
          </a:p>
          <a:p>
            <a:pPr marL="254000" indent="-254000" algn="l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PubMed abstracts extend coverage to recent research findings</a:t>
            </a:r>
            <a:endParaRPr lang="en-US" sz="1250" dirty="0"/>
          </a:p>
          <a:p>
            <a:pPr marL="254000" indent="-254000" algn="l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Corpus directly matches benchmark domain — retrieval is contextually relevant by design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1475" y="5502473"/>
            <a:ext cx="10868745" cy="879376"/>
          </a:xfrm>
          <a:prstGeom prst="roundRect">
            <a:avLst>
              <a:gd name="adj" fmla="val 16398"/>
            </a:avLst>
          </a:prstGeom>
          <a:solidFill>
            <a:srgbClr val="CEE6FD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10" y="5722541"/>
            <a:ext cx="200218" cy="16013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81963" y="5697637"/>
            <a:ext cx="10188122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Why these datasets:</a:t>
            </a:r>
            <a:r>
              <a:rPr lang="en-US" sz="12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Both are widely benchmarked in the literature, enabling fair comparison with existing systems. MedQA is the de facto standard, ensuring our results are interpretable and reproducible within the community.</a:t>
            </a:r>
            <a:endParaRPr lang="en-US" sz="12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809744D-5F3B-3EC2-5540-A9568714F5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8746" y="6480960"/>
            <a:ext cx="1322947" cy="3718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06413"/>
            <a:ext cx="663261" cy="133350"/>
          </a:xfrm>
          <a:prstGeom prst="roundRect">
            <a:avLst>
              <a:gd name="adj" fmla="val 47441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714159" y="532705"/>
            <a:ext cx="1167478" cy="80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CORE CONCEPT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58416"/>
            <a:ext cx="10868745" cy="274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Llama 3 + RAG Pipeline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61475" y="1002903"/>
            <a:ext cx="11478330" cy="107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Llama 3 generates natural language answers to medical questions, while a RAG pipeline retrieves relevant medical text from a vector database </a:t>
            </a:r>
            <a:r>
              <a:rPr lang="en-US" sz="6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before</a:t>
            </a:r>
            <a:r>
              <a:rPr lang="en-US" sz="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generation. This grounds responses in verifiable sources instead of relying purely on memorized parametric knowledge.</a:t>
            </a:r>
            <a:endParaRPr lang="en-US" sz="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1" y="1163042"/>
            <a:ext cx="10779153" cy="46482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1583" y="4929850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Llama 3 Generator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431583" y="3853844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Relevant Documents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431583" y="2788706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Retriever / Vector DB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431583" y="1712700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User Question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598175" y="5863828"/>
            <a:ext cx="5453819" cy="487759"/>
          </a:xfrm>
          <a:prstGeom prst="roundRect">
            <a:avLst>
              <a:gd name="adj" fmla="val 25940"/>
            </a:avLst>
          </a:prstGeom>
          <a:solidFill>
            <a:srgbClr val="003366"/>
          </a:solidFill>
          <a:ln/>
        </p:spPr>
      </p:sp>
      <p:sp>
        <p:nvSpPr>
          <p:cNvPr id="12" name="Text 9"/>
          <p:cNvSpPr/>
          <p:nvPr/>
        </p:nvSpPr>
        <p:spPr>
          <a:xfrm>
            <a:off x="685981" y="5910461"/>
            <a:ext cx="5278206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Design Principle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85981" y="6094313"/>
            <a:ext cx="5278206" cy="21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Every answer generated by the system is </a:t>
            </a:r>
            <a:r>
              <a:rPr lang="en-US" sz="65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conditioned on retrieved context</a:t>
            </a:r>
            <a:r>
              <a:rPr lang="en-US" sz="6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not on the model's internal weights alone. This architectural choice is the primary mechanism for hallucination reduction.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6209351" y="5910461"/>
            <a:ext cx="5327219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Why This Architecture?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209351" y="6094313"/>
            <a:ext cx="5327219" cy="21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Unlike fine-tuned models that bake knowledge into parameters at training time, a RAG system can be </a:t>
            </a:r>
            <a:r>
              <a:rPr lang="en-US" sz="6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updated by swapping the retrieval corpus</a:t>
            </a:r>
            <a:r>
              <a:rPr lang="en-US" sz="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no retraining required. This makes it inherently more maintainable and adaptable to new medical evidence.</a:t>
            </a:r>
            <a:endParaRPr lang="en-US" sz="6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F1B1716-3505-17D9-B8B1-9A7D379741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4029" y="6486112"/>
            <a:ext cx="1322947" cy="3718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29245"/>
            <a:ext cx="1570296" cy="196255"/>
          </a:xfrm>
          <a:prstGeom prst="roundRect">
            <a:avLst>
              <a:gd name="adj" fmla="val 47404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738963" y="667941"/>
            <a:ext cx="2024905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PROPOSED METHODOLOGY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865783"/>
            <a:ext cx="10868745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How This Project Improves on Existing Work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61475" y="1421011"/>
            <a:ext cx="11478330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direct comparison of this project's design choices against the limitations identified across 20+ surveyed papers demonstrates clear, targeted improvements along three dimensions.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718568"/>
          <a:ext cx="10868745" cy="2026394"/>
        </p:xfrm>
        <a:graphic>
          <a:graphicData uri="http://schemas.openxmlformats.org/drawingml/2006/table">
            <a:tbl>
              <a:tblPr/>
              <a:tblGrid>
                <a:gridCol w="3043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2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27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9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Existing Work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Limitation Identified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Our Project's Improvement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ChatDoctor / Fine-tuned LLaMA variants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No retrieval; static fine-tuned knowledge baked into weights; prone to hallucination with no verification mechanism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RAG grounds every answer in retrieved medical text — knowledge is external, verifiable, and updateable without retraining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1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MKRAG, older RAG systems (Vicuna-7B, GPT-3.5-based pipelines)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Use smaller or older LLMs as the generator; capability ceiling limits answer quality on complex clinical questions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Uses Llama 3 — a newer, stronger open-source generator that brings state-of-the-art reasoning to the RAG pipeline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Most medical LLM evaluation papers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Evaluate only on accuracy metrics (% correct); no assessment of retrieval quality or source transparency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Also evaluates retrieval relevance and source grounding — enabling transparency and clinical trust beyond raw accuracy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61475" y="3935809"/>
            <a:ext cx="5371271" cy="426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20+</a:t>
            </a:r>
            <a:endParaRPr lang="en-US" sz="3350" dirty="0"/>
          </a:p>
        </p:txBody>
      </p:sp>
      <p:sp>
        <p:nvSpPr>
          <p:cNvPr id="8" name="Text 5"/>
          <p:cNvSpPr/>
          <p:nvPr/>
        </p:nvSpPr>
        <p:spPr>
          <a:xfrm>
            <a:off x="661475" y="4502547"/>
            <a:ext cx="5371271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Papers Surveyed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61475" y="4764980"/>
            <a:ext cx="5371271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9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Across RAG, fine-tuning, hallucination, and benchmarking literature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158850" y="3935809"/>
            <a:ext cx="5371370" cy="426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3350" dirty="0"/>
          </a:p>
        </p:txBody>
      </p:sp>
      <p:sp>
        <p:nvSpPr>
          <p:cNvPr id="6" name="Text 8"/>
          <p:cNvSpPr/>
          <p:nvPr/>
        </p:nvSpPr>
        <p:spPr>
          <a:xfrm>
            <a:off x="6158850" y="4502547"/>
            <a:ext cx="5371370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Gaps Addressed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158850" y="4764980"/>
            <a:ext cx="5371370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9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Static knowledge, outdated generators, and missing source attribution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1475" y="5215434"/>
            <a:ext cx="5371271" cy="426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18</a:t>
            </a:r>
            <a:endParaRPr lang="en-US" sz="3350" dirty="0"/>
          </a:p>
        </p:txBody>
      </p:sp>
      <p:sp>
        <p:nvSpPr>
          <p:cNvPr id="14" name="Text 11"/>
          <p:cNvSpPr/>
          <p:nvPr/>
        </p:nvSpPr>
        <p:spPr>
          <a:xfrm>
            <a:off x="661475" y="5782171"/>
            <a:ext cx="5371271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Textbooks in Corpus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61475" y="6044605"/>
            <a:ext cx="5371271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9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MedQA's curated medical textbooks form the RAG retrieval knowledge base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58850" y="5215434"/>
            <a:ext cx="5371370" cy="426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Llama 3</a:t>
            </a:r>
            <a:endParaRPr lang="en-US" sz="3350" dirty="0"/>
          </a:p>
        </p:txBody>
      </p:sp>
      <p:sp>
        <p:nvSpPr>
          <p:cNvPr id="17" name="Text 14"/>
          <p:cNvSpPr/>
          <p:nvPr/>
        </p:nvSpPr>
        <p:spPr>
          <a:xfrm>
            <a:off x="6158850" y="5782171"/>
            <a:ext cx="5371370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Generator Model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158850" y="6044605"/>
            <a:ext cx="5371370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9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Newest open-source LLM applied in a full RAG configuration on MedQA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93036AD-1644-133C-82D0-7A9626C7A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9053" y="6486112"/>
            <a:ext cx="1322947" cy="371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2419</Words>
  <Application>Microsoft Office PowerPoint</Application>
  <PresentationFormat>Widescreen</PresentationFormat>
  <Paragraphs>193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Twemoji Mozilla</vt:lpstr>
      <vt:lpstr>Instrument Sans Medium</vt:lpstr>
      <vt:lpstr>Arial</vt:lpstr>
      <vt:lpstr>Instrument Sans SemiBold</vt:lpstr>
      <vt:lpstr>Instrument Sans</vt:lpstr>
      <vt:lpstr>Instrument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~ abhiram vedantham</dc:creator>
  <cp:lastModifiedBy>~ abhiram vedantham</cp:lastModifiedBy>
  <cp:revision>2</cp:revision>
  <dcterms:created xsi:type="dcterms:W3CDTF">2026-08-27T15:43:17Z</dcterms:created>
  <dcterms:modified xsi:type="dcterms:W3CDTF">2026-08-28T15:12:58Z</dcterms:modified>
</cp:coreProperties>
</file>